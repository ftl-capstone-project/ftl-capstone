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presenters step to the podium. Michael opens.</a:t>
            </a:r>
          </a:p>
          <a:p>
            <a:r>
              <a:t>Introductions: name + one line each. </a:t>
            </a:r>
          </a:p>
          <a:p>
            <a:r>
              <a:t>Michael: 'We're team DOMinion. Our capstone is Orbis — an AI-powered phishing triage tool. The idea in one line: know before you click.'</a:t>
            </a:r>
          </a:p>
          <a:p>
            <a:r>
              <a:t>Keep this to ~20s, then go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Michael.</a:t>
            </a:r>
          </a:p>
          <a:p>
            <a:r>
              <a:t>'Phishing is the number-one entry point for breaches. But triage is a bottleneck.'</a:t>
            </a:r>
          </a:p>
          <a:p>
            <a:r>
              <a:t>Walk the three cards left to right (one sentence each):</a:t>
            </a:r>
          </a:p>
          <a:p>
            <a:r>
              <a:t> 1) Analysts are buried — every report is slow, manual, specialized work.</a:t>
            </a:r>
          </a:p>
          <a:p>
            <a:r>
              <a:t> 2) The person who reported gets no answer — no closure.</a:t>
            </a:r>
          </a:p>
          <a:p>
            <a:r>
              <a:t> 3) The people most targeted have the least help — no security team at all.</a:t>
            </a:r>
          </a:p>
          <a:p>
            <a:r>
              <a:t>Land the bottom line: the safe move is the thing that stalls.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Michael.</a:t>
            </a:r>
          </a:p>
          <a:p>
            <a:r>
              <a:t>'Orbis is what happens when you automate the slow part.' Walk the top pipeline: submit a URL (web or email) -&gt; we detonate it in urlscan.io's sandbox so nobody opens it -&gt; Orbis returns a plain-English verdict, a 0-100 score, and a screenshot.</a:t>
            </a:r>
          </a:p>
          <a:p>
            <a:r>
              <a:t>Then the key framing: ONE product serves THREE roles, and each org sees only its own data. Individual = lightweight self-check; Org Member = same + closure status; Analyst = full triage dashboard.</a:t>
            </a:r>
          </a:p>
          <a:p>
            <a:r>
              <a:t>Hand off to David after this slide. ~45s.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David.</a:t>
            </a:r>
          </a:p>
          <a:p>
            <a:r>
              <a:t>'Here's what ships in the MVP.' Don't read all eight — group them:</a:t>
            </a:r>
          </a:p>
          <a:p>
            <a:r>
              <a:t> - The spine: check-a-link with an AI verdict (green = AI feature).</a:t>
            </a:r>
          </a:p>
          <a:p>
            <a:r>
              <a:t> - Two ways in: web chat AND forward-an-email (same backend flow).</a:t>
            </a:r>
          </a:p>
          <a:p>
            <a:r>
              <a:t> - The two-sided part: role-tailored reports, auto-escalation to the analyst, closure notifications.</a:t>
            </a:r>
          </a:p>
          <a:p>
            <a:r>
              <a:t> - The analyst power tools: triage dashboard + Ask Orbo (our 2nd AI feature).</a:t>
            </a:r>
          </a:p>
          <a:p>
            <a:r>
              <a:t> - Bought-not-built: Clerk auth/orgs, Google Safe Browsing blacklist.</a:t>
            </a:r>
          </a:p>
          <a:p>
            <a:r>
              <a:t>One line on stretch, then move to the wireframes.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David — this is the hand-off into the live wireframe walkthrough (NOT in the slides).</a:t>
            </a:r>
          </a:p>
          <a:p>
            <a:r>
              <a:t>'Our core flow is four screens.' Trace it: Home (paste or forward) -&gt; Checking (sandbox running) -&gt; Result (score, screenshot, plain-English verdict) -&gt; Reports (history + closure).</a:t>
            </a:r>
          </a:p>
          <a:p>
            <a:r>
              <a:t>Point out the single verdict card renders Safe / Suspicious / Dangerous from the data.</a:t>
            </a:r>
          </a:p>
          <a:p>
            <a:r>
              <a:t>Mention we drew far more than the required 3 screens, then say: 'Let me show you the actual wireframes' and switch to Figma/PDF. Come back to the deck for the data model. ~40s +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Ozias.</a:t>
            </a:r>
          </a:p>
          <a:p>
            <a:r>
              <a:t>'The one design decision that makes Orbis work is splitting the data into two layers.'</a:t>
            </a:r>
          </a:p>
          <a:p>
            <a:r>
              <a:t>TOP (global indicators): the objective facts about a URL — malicious or not, the AI verdict, the screenshot. That's threat INTEL, not private data, so we scan a URL ONCE and reuse it for everyone. That powers 'Orbo has seen this before, reported N times.'</a:t>
            </a:r>
          </a:p>
          <a:p>
            <a:r>
              <a:t>BOTTOM (per-org): who reported it, the analyst's authoritative verdict, campaigns, notifications — all walled off by org_id so one company can never see another's activity.</a:t>
            </a:r>
          </a:p>
          <a:p>
            <a:r>
              <a:t>Right badge: Clerk owns identity; users &amp; organizations are just mirror rows. ~50s. Go to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Ozias.</a:t>
            </a:r>
          </a:p>
          <a:p>
            <a:r>
              <a:t>Trace the top pipeline left to right: a user submits (web or email) -&gt; we compute a canonical_key to collapse duplicate/tracking-junk URLs into one indicator -&gt; if it's new we scan it in urlscan AND check Google Safe Browsing -&gt; Claude turns the evidence into a score + plain-English verdict.</a:t>
            </a:r>
          </a:p>
          <a:p>
            <a:r>
              <a:t>Then it FORKS on who submitted:</a:t>
            </a:r>
          </a:p>
          <a:p>
            <a:r>
              <a:t> - Individual (no org): gets the verdict, done. Nothing escalates.</a:t>
            </a:r>
          </a:p>
          <a:p>
            <a:r>
              <a:t> - Org member: auto-escalated to the analyst; the analyst records the authoritative verdict; a notification fires back so the reporter gets closure (story #7).</a:t>
            </a:r>
          </a:p>
          <a:p>
            <a:r>
              <a:t>Emphasize: the dedup is what turns 20 reports into 1 investigation. 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Ozias.</a:t>
            </a:r>
          </a:p>
          <a:p>
            <a:r>
              <a:t>Don't read all twelve — call out the shape: full CRUD, comfortably past the 5-endpoint bar.</a:t>
            </a:r>
          </a:p>
          <a:p>
            <a:r>
              <a:t>Highlight four: POST /submissions (the entry point), GET /indicators/:id (poll for the verdict — note we merge the GLOBAL indicator with the caller's private review), PATCH .../review (the analyst's authoritative verdict — the two-sided part), and POST /nlp-query (the star — Ask Orbo).</a:t>
            </a:r>
          </a:p>
          <a:p>
            <a:r>
              <a:t>Note the two webhooks: Clerk sync + inbound email.</a:t>
            </a:r>
          </a:p>
          <a:p>
            <a:r>
              <a:t>Land the bottom line: ONE middleware enforces role + org on every route — that's how isolation is real, not just a promise. Hand back to David/Michael. 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David.</a:t>
            </a:r>
          </a:p>
          <a:p>
            <a:r>
              <a:t>'The rubric needs one AI feature — we have two, and both are hardened.'</a:t>
            </a:r>
          </a:p>
          <a:p>
            <a:r>
              <a:t>A) The verdict: Claude turns sandbox evidence into a human-readable score. Two safety moves — structured outputs (always valid JSON) and a deterministic FLOOR so a blacklisted URL can never come back 'safe,' no matter what the model says.</a:t>
            </a:r>
          </a:p>
          <a:p>
            <a:r>
              <a:t>B) Ask Orbo: analyst types a question, gets a chart. The model emits a WHITELISTED FILTER OBJECT, not SQL — so there's no injection path; the backend runs a parameterized query.</a:t>
            </a:r>
          </a:p>
          <a:p>
            <a:r>
              <a:t>This sets up the next slide (challenge). ~45s.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Michael.</a:t>
            </a:r>
          </a:p>
          <a:p>
            <a:r>
              <a:t>'The feature we're most excited about — and most worried about — is the dedup key.'</a:t>
            </a:r>
          </a:p>
          <a:p>
            <a:r>
              <a:t>Set it up with the example: phishers add per-victim junk so every target gets a different-looking URL, but it's the same attack. Our canonical_key normalizes them (lowercase host, drop fragments, strip tracking params, sort the rest) so they collapse into ONE indicator.</a:t>
            </a:r>
          </a:p>
          <a:p>
            <a:r>
              <a:t>Why it's the crux: it turns 20 reports into 1 investigation, powers 'seen this before,' avoids re-scanning, and is literally how we define a campaign.</a:t>
            </a:r>
          </a:p>
          <a:p>
            <a:r>
              <a:t>Why it's hard: knowing which params are junk vs. meaningful is heuristic; too aggressive and we merge unrelated pages; shorteners need the resolved URL (roadmap). 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 closes; all three field Q&amp;A.</a:t>
            </a:r>
          </a:p>
          <a:p>
            <a:r>
              <a:t>Setup: repo + GitHub Project board with issues/milestones (submission requirement), deploy on free tiers early in Sprint 1, seed script so the demo looks populated.</a:t>
            </a:r>
          </a:p>
          <a:p>
            <a:r>
              <a:t>One line on the roadmap (extension, SSO, alerts, more charts).</a:t>
            </a:r>
          </a:p>
          <a:p>
            <a:r>
              <a:t>Closing line — say it with conviction: 'Orbis turns a scary link into a clear answer, in seconds.' Then invite questions and manage Q&amp;A professionally: whoever owns the area answers; keep answers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22415" y="1965960"/>
            <a:ext cx="2926080" cy="2926080"/>
          </a:xfrm>
          <a:prstGeom prst="ellipse">
            <a:avLst/>
          </a:prstGeom>
          <a:noFill/>
          <a:ln w="15875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33895" y="2377440"/>
            <a:ext cx="2103120" cy="2103120"/>
          </a:xfrm>
          <a:prstGeom prst="ellipse">
            <a:avLst/>
          </a:prstGeom>
          <a:noFill/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99655" y="2743200"/>
            <a:ext cx="1371600" cy="1371600"/>
          </a:xfrm>
          <a:prstGeom prst="ellipse">
            <a:avLst/>
          </a:prstGeom>
          <a:noFill/>
          <a:ln w="15875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29423" y="3172968"/>
            <a:ext cx="512064" cy="51206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8183" y="2258568"/>
            <a:ext cx="237744" cy="23774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Arial"/>
              </a:rPr>
              <a:t>TEAM DOMINION  ·  WEEK 6 CAPSTONE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600" b="1" i="0">
                <a:solidFill>
                  <a:srgbClr val="FFFFFF"/>
                </a:solidFill>
                <a:latin typeface="Arial"/>
              </a:rPr>
              <a:t>Orbis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1">
                <a:solidFill>
                  <a:srgbClr val="E6EAF3"/>
                </a:solidFill>
                <a:latin typeface="Arial"/>
              </a:rPr>
              <a:t>Know before you click.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93A3C4"/>
                </a:solidFill>
                <a:latin typeface="Arial"/>
              </a:rPr>
              <a:t>AI-powered phishing triage — a plain-English danger verdict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93A3C4"/>
                </a:solidFill>
                <a:latin typeface="Arial"/>
              </a:rPr>
              <a:t>for anyone who gets a suspicious link.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EAF3"/>
                </a:solidFill>
                <a:latin typeface="Arial"/>
              </a:rPr>
              <a:t>Michael Jissa</a:t>
            </a:r>
            <a:r>
              <a:rPr sz="1400" b="0" i="0">
                <a:solidFill>
                  <a:srgbClr val="2B3A63"/>
                </a:solidFill>
                <a:latin typeface="Arial"/>
              </a:rPr>
              <a:t>   ·   </a:t>
            </a:r>
            <a:r>
              <a:rPr sz="1400" b="1" i="0">
                <a:solidFill>
                  <a:srgbClr val="E6EAF3"/>
                </a:solidFill>
                <a:latin typeface="Arial"/>
              </a:rPr>
              <a:t>Ozias Tumimana</a:t>
            </a:r>
            <a:r>
              <a:rPr sz="1400" b="0" i="0">
                <a:solidFill>
                  <a:srgbClr val="2B3A63"/>
                </a:solidFill>
                <a:latin typeface="Arial"/>
              </a:rPr>
              <a:t>   ·   </a:t>
            </a:r>
            <a:r>
              <a:rPr sz="1400" b="1" i="0">
                <a:solidFill>
                  <a:srgbClr val="E6EAF3"/>
                </a:solidFill>
                <a:latin typeface="Arial"/>
              </a:rPr>
              <a:t>David Gonzalez-Cesar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D3EE"/>
                </a:solidFill>
                <a:latin typeface="Arial"/>
              </a:rPr>
              <a:t>Phishing is the #1 way organizations get breached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09728" cy="310896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Analysts are buried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93A3C4"/>
                </a:solidFill>
                <a:latin typeface="Arial"/>
              </a:rPr>
              <a:t>Triaging each report by hand — confirm it's malicious, see what it does, spot a campaign — is slow, repetitive, expert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109728" cy="310896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1" y="20116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Reporters hear nothing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1" y="292608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93A3C4"/>
                </a:solidFill>
                <a:latin typeface="Arial"/>
              </a:rPr>
              <a:t>You report a suspicious link and wait. No quick answer, no closure, no idea if you did the right 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69164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1583" y="1691640"/>
            <a:ext cx="109728" cy="310896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20116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The most-targeted have the least help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92608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93A3C4"/>
                </a:solidFill>
                <a:latin typeface="Arial"/>
              </a:rPr>
              <a:t>Students, individuals, and small companies with no security team are on their 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6EAF3"/>
                </a:solidFill>
                <a:latin typeface="Arial"/>
              </a:rPr>
              <a:t>The safe move — </a:t>
            </a:r>
            <a:r>
              <a:rPr sz="1500" b="1" i="0">
                <a:solidFill>
                  <a:srgbClr val="E6EAF3"/>
                </a:solidFill>
                <a:latin typeface="Arial"/>
              </a:rPr>
              <a:t>report it and wait for an analyst</a:t>
            </a:r>
            <a:r>
              <a:rPr sz="1500" b="0" i="0">
                <a:solidFill>
                  <a:srgbClr val="E6EAF3"/>
                </a:solidFill>
                <a:latin typeface="Arial"/>
              </a:rPr>
              <a:t> — is exactly where everything stalls.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Michael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Our Solution — Orbis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D3EE"/>
                </a:solidFill>
                <a:latin typeface="Arial"/>
              </a:rPr>
              <a:t>Takes the slow, manual work out of phishing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8308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Submit a suspicious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8BDF8"/>
                </a:solidFill>
                <a:latin typeface="Arial"/>
              </a:rPr>
              <a:t>web chat or forward an email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79" y="2057400"/>
            <a:ext cx="502920" cy="31089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399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78308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Detonate in a secure sandbox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350008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8B5CF6"/>
                </a:solidFill>
                <a:latin typeface="Arial"/>
              </a:rPr>
              <a:t>urlscan.io — nobody opens the link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35240" y="2057400"/>
            <a:ext cx="502920" cy="31089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59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1" y="178308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Get a plain-English verdict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1" y="2350008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4D399"/>
                </a:solidFill>
                <a:latin typeface="Arial"/>
              </a:rPr>
              <a:t>0–100 score +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E6EAF3"/>
                </a:solidFill>
                <a:latin typeface="Arial"/>
              </a:rPr>
              <a:t>One product, </a:t>
            </a:r>
            <a:r>
              <a:rPr sz="1600" b="1" i="0">
                <a:solidFill>
                  <a:srgbClr val="22D3EE"/>
                </a:solidFill>
                <a:latin typeface="Arial"/>
              </a:rPr>
              <a:t>three roles</a:t>
            </a:r>
            <a:r>
              <a:rPr sz="1600" b="0" i="0">
                <a:solidFill>
                  <a:srgbClr val="E6EAF3"/>
                </a:solidFill>
                <a:latin typeface="Arial"/>
              </a:rPr>
              <a:t>  — each org sees only its own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020"/>
                </a:solidFill>
                <a:latin typeface="Arial"/>
              </a:rPr>
              <a:t>Individual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52627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A3C4"/>
                </a:solidFill>
                <a:latin typeface="Arial"/>
              </a:rPr>
              <a:t>A solo user vetting links for themselves. No IT to ask.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440679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8BDF8"/>
                </a:solidFill>
                <a:latin typeface="Arial"/>
              </a:rPr>
              <a:t>Gets:  </a:t>
            </a:r>
            <a:r>
              <a:rPr sz="1200" b="0" i="0">
                <a:solidFill>
                  <a:srgbClr val="E6EAF3"/>
                </a:solidFill>
                <a:latin typeface="Arial"/>
              </a:rPr>
              <a:t>Lightweight “is this safe?” + my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3749039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25112" y="3749039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749039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020"/>
                </a:solidFill>
                <a:latin typeface="Arial"/>
              </a:rPr>
              <a:t>Organization 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452627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A3C4"/>
                </a:solidFill>
                <a:latin typeface="Arial"/>
              </a:rPr>
              <a:t>Gets suspicious links at work; a bad click risks the whole org.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5440679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B5CF6"/>
                </a:solidFill>
                <a:latin typeface="Arial"/>
              </a:rPr>
              <a:t>Gets:  </a:t>
            </a:r>
            <a:r>
              <a:rPr sz="1200" b="0" i="0">
                <a:solidFill>
                  <a:srgbClr val="E6EAF3"/>
                </a:solidFill>
                <a:latin typeface="Arial"/>
              </a:rPr>
              <a:t>Same, plus escalation &amp; closure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749039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3749039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3" y="3749039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020"/>
                </a:solidFill>
                <a:latin typeface="Arial"/>
              </a:rPr>
              <a:t>Security Analyst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52627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A3C4"/>
                </a:solidFill>
                <a:latin typeface="Arial"/>
              </a:rPr>
              <a:t>Often the only security person at a small company.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5440679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4D399"/>
                </a:solidFill>
                <a:latin typeface="Arial"/>
              </a:rPr>
              <a:t>Gets:  </a:t>
            </a:r>
            <a:r>
              <a:rPr sz="1200" b="0" i="0">
                <a:solidFill>
                  <a:srgbClr val="E6EAF3"/>
                </a:solidFill>
                <a:latin typeface="Arial"/>
              </a:rPr>
              <a:t>Full triage dashboard, campaigns, Ask-the-data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Michael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What We're Building —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D3EE"/>
                </a:solidFill>
                <a:latin typeface="Arial"/>
              </a:rPr>
              <a:t>Scoped for the sprint; stretch items on the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91440" cy="93268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2821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Check-a-link 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1226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Submit a URL, sandbox scan, AI score + screenshot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892807"/>
            <a:ext cx="73152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92807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4D399"/>
                </a:solidFill>
                <a:latin typeface="Arial"/>
              </a:rPr>
              <a:t>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600200"/>
            <a:ext cx="91440" cy="932688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2821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Email forwarding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11226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Forward to the Orbo inbox — no UI, same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44200" y="1892807"/>
            <a:ext cx="73152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44200" y="1892807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D3EE"/>
                </a:solidFill>
                <a:latin typeface="Arial"/>
              </a:rPr>
              <a:t>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8892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788920"/>
            <a:ext cx="91440" cy="932688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91693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Role-tailored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30098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Individual / Member / Analyst — three 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081527"/>
            <a:ext cx="73152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081527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D3EE"/>
                </a:solidFill>
                <a:latin typeface="Arial"/>
              </a:rPr>
              <a:t>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8892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2788920"/>
            <a:ext cx="91440" cy="932688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291693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Auto-escalation + closure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30098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Member submissions route to the analyst; notify on verdict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3081527"/>
            <a:ext cx="73152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3081527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D3EE"/>
                </a:solidFill>
                <a:latin typeface="Arial"/>
              </a:rPr>
              <a:t>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77639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977639"/>
            <a:ext cx="91440" cy="932688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105655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Analyst triage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48970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Org-wide history, stats, campaign grouping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4270248"/>
            <a:ext cx="73152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4270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D3EE"/>
                </a:solidFill>
                <a:latin typeface="Arial"/>
              </a:rPr>
              <a:t>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977639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3977639"/>
            <a:ext cx="91440" cy="93268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59" y="4105655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Ask Orbo (ask-the-data)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448970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Plain-English question → chart, no 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44200" y="4270248"/>
            <a:ext cx="73152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44200" y="4270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4D399"/>
                </a:solidFill>
                <a:latin typeface="Arial"/>
              </a:rPr>
              <a:t>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6636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5166360"/>
            <a:ext cx="91440" cy="932688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29437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Managed auth + orgs (Clerk)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56784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Social login &amp; org invites out of the box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0" y="5458968"/>
            <a:ext cx="73152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0" y="545896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D3EE"/>
                </a:solidFill>
                <a:latin typeface="Arial"/>
              </a:rPr>
              <a:t>core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516636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63640" y="5166360"/>
            <a:ext cx="91440" cy="932688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59" y="529437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Known-bad blacklist check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59" y="56784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Google Safe Browsing signal per URL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44200" y="5458968"/>
            <a:ext cx="73152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44200" y="545896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D3EE"/>
                </a:solidFill>
                <a:latin typeface="Arial"/>
              </a:rPr>
              <a:t>core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B5CF6"/>
                </a:solidFill>
                <a:latin typeface="Arial"/>
              </a:rPr>
              <a:t>Stretch (roadmap):  </a:t>
            </a:r>
            <a:r>
              <a:rPr sz="1250" b="0" i="0">
                <a:solidFill>
                  <a:srgbClr val="93A3C4"/>
                </a:solidFill>
                <a:latin typeface="Arial"/>
              </a:rPr>
              <a:t>browser extension  ·  enterprise SSO/SAML  ·  email/SMS alerts  ·  more Ask-Orbo charts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David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Wireframes — the Check-a-Link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D3EE"/>
                </a:solidFill>
                <a:latin typeface="Arial"/>
              </a:rPr>
              <a:t>Designed in Figma · full flow drawn · live demo to follow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020"/>
                </a:solidFill>
                <a:latin typeface="Arial"/>
              </a:rP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Paste a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08376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(or forward email)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2724912"/>
            <a:ext cx="457200" cy="31089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4448" y="201168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2011680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01168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020"/>
                </a:solidFill>
                <a:latin typeface="Arial"/>
              </a:rPr>
              <a:t>Checking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69748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Sandbox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008376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loading state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71616" y="2724912"/>
            <a:ext cx="457200" cy="31089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28816" y="201168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28816" y="2011680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201168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02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269748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Score · screenshot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008376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plain-English verdict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15984" y="2724912"/>
            <a:ext cx="457200" cy="31089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73184" y="201168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73184" y="2011680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201168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020"/>
                </a:solidFill>
                <a:latin typeface="Arial"/>
              </a:rPr>
              <a:t>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4" y="269748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My history &amp;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4" y="3008376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closure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EAF3"/>
                </a:solidFill>
                <a:latin typeface="Arial"/>
              </a:rPr>
              <a:t>One verdict card — three data-driven states: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63440"/>
            <a:ext cx="16459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66344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4D399"/>
                </a:solidFill>
                <a:latin typeface="Arial"/>
              </a:rPr>
              <a:t>SAFE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4663440"/>
            <a:ext cx="16459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66344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BF24"/>
                </a:solidFill>
                <a:latin typeface="Arial"/>
              </a:rPr>
              <a:t>SUSPICIOUS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663440"/>
            <a:ext cx="16459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466344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87171"/>
                </a:solidFill>
                <a:latin typeface="Arial"/>
              </a:rPr>
              <a:t>DANGEROUS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617720"/>
            <a:ext cx="5577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A3C4"/>
                </a:solidFill>
                <a:latin typeface="Arial"/>
              </a:rPr>
              <a:t>Also drawn: landing, login/register, team setup,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A3C4"/>
                </a:solidFill>
                <a:latin typeface="Arial"/>
              </a:rPr>
              <a:t>analyst dashboard, Ask Orbo (6 chart variants),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A3C4"/>
                </a:solidFill>
                <a:latin typeface="Arial"/>
              </a:rPr>
              <a:t>3 report variants + detail modal, invalid-input state.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David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Data Model — Two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D3EE"/>
                </a:solidFill>
                <a:latin typeface="Arial"/>
              </a:rPr>
              <a:t>Shared threat intel  ·  private per-org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9720" y="1481328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155448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B5CF6"/>
                </a:solidFill>
                <a:latin typeface="Arial"/>
              </a:rPr>
              <a:t>CLERK (auth)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90195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3A3C4"/>
                </a:solidFill>
                <a:latin typeface="Arial"/>
              </a:rPr>
              <a:t>mirrors → users · organizations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81328"/>
            <a:ext cx="8412480" cy="19659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9105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Arial"/>
              </a:rPr>
              <a:t>GLOBAL — shared threat intel</a:t>
            </a:r>
            <a:r>
              <a:rPr sz="1200" b="0" i="0">
                <a:solidFill>
                  <a:srgbClr val="93A3C4"/>
                </a:solidFill>
                <a:latin typeface="Arial"/>
              </a:rPr>
              <a:t> · scanned once, reused by everyone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48256"/>
            <a:ext cx="3017520" cy="12344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3969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05456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2D3EE"/>
                </a:solidFill>
                <a:latin typeface="Arial"/>
              </a:rPr>
              <a:t>canonical_key (unique)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3A3C4"/>
                </a:solidFill>
                <a:latin typeface="Arial"/>
              </a:rPr>
              <a:t>ai_score · ai_verdict · screenshot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3A3C4"/>
                </a:solidFill>
                <a:latin typeface="Arial"/>
              </a:rPr>
              <a:t>blacklist_hit · report_count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39696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6EAF3"/>
                </a:solidFill>
                <a:latin typeface="Arial"/>
              </a:rPr>
              <a:t>One row per unique URL.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The objective facts about a link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is it malicious, the AI reasoning,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3A3C4"/>
                </a:solidFill>
                <a:latin typeface="Arial"/>
              </a:rPr>
              <a:t>screenshot — are the same for everyone.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572000" y="3520440"/>
            <a:ext cx="310896" cy="310896"/>
          </a:xfrm>
          <a:prstGeom prst="downArrow">
            <a:avLst/>
          </a:prstGeom>
          <a:solidFill>
            <a:srgbClr val="2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11064240" cy="21488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87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B5CF6"/>
                </a:solidFill>
                <a:latin typeface="Arial"/>
              </a:rPr>
              <a:t>PER-ORG — private</a:t>
            </a:r>
            <a:r>
              <a:rPr sz="1200" b="0" i="0">
                <a:solidFill>
                  <a:srgbClr val="93A3C4"/>
                </a:solidFill>
                <a:latin typeface="Arial"/>
              </a:rPr>
              <a:t> · walled off by org_id (story #12)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44568"/>
            <a:ext cx="2578608" cy="141732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544568"/>
            <a:ext cx="2578608" cy="41148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44568"/>
            <a:ext cx="25786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B1020"/>
                </a:solidFill>
                <a:latin typeface="Arial"/>
              </a:rPr>
              <a:t>submissions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2304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EAF3"/>
                </a:solidFill>
                <a:latin typeface="Arial"/>
              </a:rPr>
              <a:t>who reported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85816"/>
            <a:ext cx="2304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3A3C4"/>
                </a:solidFill>
                <a:latin typeface="Arial"/>
              </a:rPr>
              <a:t>raw_url · 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4544568"/>
            <a:ext cx="2578608" cy="141732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84448" y="4544568"/>
            <a:ext cx="2578608" cy="41148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4544568"/>
            <a:ext cx="25786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B1020"/>
                </a:solidFill>
                <a:latin typeface="Arial"/>
              </a:rPr>
              <a:t>org_reviews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5074920"/>
            <a:ext cx="2304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EAF3"/>
                </a:solidFill>
                <a:latin typeface="Arial"/>
              </a:rPr>
              <a:t>analyst's verdict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608" y="5385816"/>
            <a:ext cx="2304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3A3C4"/>
                </a:solidFill>
                <a:latin typeface="Arial"/>
              </a:rPr>
              <a:t>human_score ·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45936" y="4544568"/>
            <a:ext cx="2578608" cy="141732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45936" y="4544568"/>
            <a:ext cx="2578608" cy="41148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4544568"/>
            <a:ext cx="25786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B1020"/>
                </a:solidFill>
                <a:latin typeface="Arial"/>
              </a:rPr>
              <a:t>campaigns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5074920"/>
            <a:ext cx="2304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EAF3"/>
                </a:solidFill>
                <a:latin typeface="Arial"/>
              </a:rPr>
              <a:t>cluster of threats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5385816"/>
            <a:ext cx="2304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3A3C4"/>
                </a:solidFill>
                <a:latin typeface="Arial"/>
              </a:rPr>
              <a:t>shared_signal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07424" y="4544568"/>
            <a:ext cx="2578608" cy="141732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07424" y="4544568"/>
            <a:ext cx="2578608" cy="41148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7424" y="4544568"/>
            <a:ext cx="25786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B1020"/>
                </a:solidFill>
                <a:latin typeface="Arial"/>
              </a:rP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5074920"/>
            <a:ext cx="2304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EAF3"/>
                </a:solidFill>
                <a:latin typeface="Arial"/>
              </a:rPr>
              <a:t>closure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5385816"/>
            <a:ext cx="2304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3A3C4"/>
                </a:solidFill>
                <a:latin typeface="Arial"/>
              </a:rPr>
              <a:t>to the reporter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Ozias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How the Data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D3EE"/>
                </a:solidFill>
                <a:latin typeface="Arial"/>
              </a:rPr>
              <a:t>From a pasted link to a closed investigation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778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938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86584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3A3C4"/>
                </a:solidFill>
                <a:latin typeface="Arial"/>
              </a:rPr>
              <a:t>web or email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44952" y="2313432"/>
            <a:ext cx="384048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8144" y="1783080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92938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Dedup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386584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3A3C4"/>
                </a:solidFill>
                <a:latin typeface="Arial"/>
              </a:rPr>
              <a:t>canonical_key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679191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3A3C4"/>
                </a:solidFill>
                <a:latin typeface="Arial"/>
              </a:rPr>
              <a:t>collapse duplicates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34456" y="2313432"/>
            <a:ext cx="384048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7648" y="1783080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92938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Scan + Blacklist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386584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3A3C4"/>
                </a:solidFill>
                <a:latin typeface="Arial"/>
              </a:rPr>
              <a:t>urlscan.io 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79191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3A3C4"/>
                </a:solidFill>
                <a:latin typeface="Arial"/>
              </a:rPr>
              <a:t>Safe Browsing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23960" y="2313432"/>
            <a:ext cx="384048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17152" y="1783080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192938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AI Verdict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386584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3A3C4"/>
                </a:solidFill>
                <a:latin typeface="Arial"/>
              </a:rPr>
              <a:t>score + 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679191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3A3C4"/>
                </a:solidFill>
                <a:latin typeface="Arial"/>
              </a:rPr>
              <a:t>English (Claude)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E6EAF3"/>
                </a:solidFill>
                <a:latin typeface="Arial"/>
              </a:rPr>
              <a:t>Then it forks on who submitted: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23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38BDF8"/>
                </a:solidFill>
                <a:latin typeface="Arial"/>
              </a:rPr>
              <a:t>Individual  (org_id = NULL)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805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Gets the AI verdict instantly.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A3C4"/>
                </a:solidFill>
                <a:latin typeface="Arial"/>
              </a:rPr>
              <a:t>• No analyst, nothing escalates.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A3C4"/>
                </a:solidFill>
                <a:latin typeface="Arial"/>
              </a:rPr>
              <a:t>• Scoped to their own user_id.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88620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023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34D399"/>
                </a:solidFill>
                <a:latin typeface="Arial"/>
              </a:rPr>
              <a:t>Org Member  →  Analyst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Auto-escalated </a:t>
            </a:r>
            <a:r>
              <a:rPr sz="1100" b="0" i="0">
                <a:solidFill>
                  <a:srgbClr val="93A3C4"/>
                </a:solidFill>
                <a:latin typeface="Arial"/>
              </a:rPr>
              <a:t>(escalated = true)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Analyst writes authoritative verdict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</a:t>
            </a:r>
            <a:r>
              <a:rPr sz="1250" b="1" i="0">
                <a:solidFill>
                  <a:srgbClr val="34D399"/>
                </a:solidFill>
                <a:latin typeface="Arial"/>
              </a:rPr>
              <a:t>Notification</a:t>
            </a:r>
            <a:r>
              <a:rPr sz="1250" b="0" i="0">
                <a:solidFill>
                  <a:srgbClr val="E6EAF3"/>
                </a:solidFill>
                <a:latin typeface="Arial"/>
              </a:rPr>
              <a:t> → reporter gets closure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Ozias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API — the Endpoints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D3EE"/>
                </a:solidFill>
                <a:latin typeface="Arial"/>
              </a:rPr>
              <a:t>12 first-party routes (auth/orgs handled by Clerk)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73936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4D399"/>
                </a:solidFill>
                <a:latin typeface="Arial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719072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/api/submissions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956816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Submit a URL for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04288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432304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32304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8BDF8"/>
                </a:solidFill>
                <a:latin typeface="Arial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377440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/api/indicators/:id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615184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Poll the verdict (global + my review)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62656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090672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90672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8BDF8"/>
                </a:solidFill>
                <a:latin typeface="Arial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03580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/api/history?mine=1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273552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My reported 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21024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749039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749039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8BDF8"/>
                </a:solidFill>
                <a:latin typeface="Arial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369417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93192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Org-wide history + stats (analyst)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79392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407407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407407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8BDF8"/>
                </a:solidFill>
                <a:latin typeface="Arial"/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4352544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/api/search?q=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590288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Keyword search in my org (analyst)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59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5065775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065775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BBF24"/>
                </a:solidFill>
                <a:latin typeface="Arial"/>
              </a:rPr>
              <a:t>PATCH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5010912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/api/indicators/:id/review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5248655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Analyst records authoritative verdict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645920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81928" y="1773936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1773936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8BDF8"/>
                </a:solidFill>
                <a:latin typeface="Arial"/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1719072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/api/campaigns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1956816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My org's campaigns (triage queue)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2304288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81928" y="2432304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2432304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4D399"/>
                </a:solidFill>
                <a:latin typeface="Arial"/>
              </a:rP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9752" y="2377440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/api/nlp-query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9752" y="2615184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★ Ask Orbo: English → chart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2962656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81928" y="3090672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3090672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8BDF8"/>
                </a:solidFill>
                <a:latin typeface="Arial"/>
              </a:rPr>
              <a:t>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59752" y="303580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/api/notifications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9752" y="3273552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My closure alerts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3621024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81928" y="3749039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8" y="3749039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4D399"/>
                </a:solidFill>
                <a:latin typeface="Arial"/>
              </a:rP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9752" y="369417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/api/webhooks/clerk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9752" y="393192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Sync user/org mirror rows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4279392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81928" y="4407407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81928" y="4407407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4D399"/>
                </a:solidFill>
                <a:latin typeface="Arial"/>
              </a:rPr>
              <a:t>POST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59752" y="4352544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/api/webhooks/inbound-email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9752" y="4590288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Orbo inbox → submission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4937759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81928" y="5065775"/>
            <a:ext cx="77724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81928" y="5065775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8BDF8"/>
                </a:solidFill>
                <a:latin typeface="Arial"/>
              </a:rPr>
              <a:t>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59752" y="5010912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/api/campaigns/:id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59752" y="5248655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Campaign detail (grouped)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2D3EE"/>
                </a:solidFill>
                <a:latin typeface="Arial"/>
              </a:rPr>
              <a:t>One middleware </a:t>
            </a:r>
            <a:r>
              <a:rPr sz="1250" b="0" i="0">
                <a:solidFill>
                  <a:srgbClr val="E6EAF3"/>
                </a:solidFill>
                <a:latin typeface="Arial"/>
              </a:rPr>
              <a:t>verifies the Clerk session and enforces role + org_id on every protected route — </a:t>
            </a:r>
            <a:r>
              <a:rPr sz="1250" b="1" i="0">
                <a:solidFill>
                  <a:srgbClr val="E6EAF3"/>
                </a:solidFill>
                <a:latin typeface="Arial"/>
              </a:rPr>
              <a:t>so no org can ever read another's data.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Ozias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Two AI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D3EE"/>
                </a:solidFill>
                <a:latin typeface="Arial"/>
              </a:rPr>
              <a:t>Rubric asks for one — Orbis has two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40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020"/>
                </a:solidFill>
                <a:latin typeface="Arial"/>
              </a:rPr>
              <a:t>A · Plain-English Danger 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3A3C4"/>
                </a:solidFill>
                <a:latin typeface="Arial"/>
              </a:rPr>
              <a:t>Turns </a:t>
            </a:r>
            <a:r>
              <a:rPr sz="1300" b="1" i="0">
                <a:solidFill>
                  <a:srgbClr val="E6EAF3"/>
                </a:solidFill>
                <a:latin typeface="Arial"/>
              </a:rPr>
              <a:t>raw sandbox evidence</a:t>
            </a:r>
            <a:r>
              <a:rPr sz="1300" b="0" i="0">
                <a:solidFill>
                  <a:srgbClr val="93A3C4"/>
                </a:solidFill>
                <a:latin typeface="Arial"/>
              </a:rPr>
              <a:t> into 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3A3C4"/>
                </a:solidFill>
                <a:latin typeface="Arial"/>
              </a:rPr>
              <a:t>verdict + 0–100 score anyone can act 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93A3C4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4D399"/>
                </a:solidFill>
                <a:latin typeface="Arial"/>
              </a:rPr>
              <a:t>In:  </a:t>
            </a:r>
            <a:r>
              <a:rPr sz="1200" b="0" i="0">
                <a:solidFill>
                  <a:srgbClr val="E6EAF3"/>
                </a:solidFill>
                <a:latin typeface="Arial"/>
              </a:rPr>
              <a:t>scan evidence + blacklist + context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4D399"/>
                </a:solidFill>
                <a:latin typeface="Arial"/>
              </a:rPr>
              <a:t>Out:  </a:t>
            </a:r>
            <a:r>
              <a:rPr sz="1200" b="0" i="0">
                <a:solidFill>
                  <a:srgbClr val="E6EAF3"/>
                </a:solidFill>
                <a:latin typeface="Arial"/>
              </a:rPr>
              <a:t>structured JSON (always valid)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93A3C4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4D399"/>
                </a:solidFill>
                <a:latin typeface="Arial"/>
              </a:rPr>
              <a:t>Safety floor:  </a:t>
            </a:r>
            <a:r>
              <a:rPr sz="1200" b="0" i="0">
                <a:solidFill>
                  <a:srgbClr val="E6EAF3"/>
                </a:solidFill>
                <a:latin typeface="Arial"/>
              </a:rPr>
              <a:t>a known-bad URL can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EAF3"/>
                </a:solidFill>
                <a:latin typeface="Arial"/>
              </a:rPr>
              <a:t>never be reported as “safe.”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645920"/>
            <a:ext cx="5440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020"/>
                </a:solidFill>
                <a:latin typeface="Arial"/>
              </a:rPr>
              <a:t>B · Ask Orbo — Ask-the-Data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3A3C4"/>
                </a:solidFill>
                <a:latin typeface="Arial"/>
              </a:rPr>
              <a:t>An analyst asks in </a:t>
            </a:r>
            <a:r>
              <a:rPr sz="1300" b="1" i="0">
                <a:solidFill>
                  <a:srgbClr val="E6EAF3"/>
                </a:solidFill>
                <a:latin typeface="Arial"/>
              </a:rPr>
              <a:t>plain English</a:t>
            </a:r>
            <a:r>
              <a:rPr sz="1300" b="0" i="0">
                <a:solidFill>
                  <a:srgbClr val="93A3C4"/>
                </a:solidFill>
                <a:latin typeface="Arial"/>
              </a:rPr>
              <a:t>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3A3C4"/>
                </a:solidFill>
                <a:latin typeface="Arial"/>
              </a:rPr>
              <a:t>gets a chart back — no SQL.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93A3C4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BDF8"/>
                </a:solidFill>
                <a:latin typeface="Arial"/>
              </a:rPr>
              <a:t>In:  </a:t>
            </a:r>
            <a:r>
              <a:rPr sz="1200" b="0" i="0">
                <a:solidFill>
                  <a:srgbClr val="E6EAF3"/>
                </a:solidFill>
                <a:latin typeface="Arial"/>
              </a:rPr>
              <a:t>question + allowed field schema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BDF8"/>
                </a:solidFill>
                <a:latin typeface="Arial"/>
              </a:rPr>
              <a:t>Out:  </a:t>
            </a:r>
            <a:r>
              <a:rPr sz="1200" b="0" i="0">
                <a:solidFill>
                  <a:srgbClr val="E6EAF3"/>
                </a:solidFill>
                <a:latin typeface="Arial"/>
              </a:rPr>
              <a:t>validated filter + chartSpec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93A3C4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BDF8"/>
                </a:solidFill>
                <a:latin typeface="Arial"/>
              </a:rPr>
              <a:t>Safety:  </a:t>
            </a:r>
            <a:r>
              <a:rPr sz="1200" b="0" i="0">
                <a:solidFill>
                  <a:srgbClr val="E6EAF3"/>
                </a:solidFill>
                <a:latin typeface="Arial"/>
              </a:rPr>
              <a:t>whitelisted filter, not raw SQL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EAF3"/>
                </a:solidFill>
                <a:latin typeface="Arial"/>
              </a:rPr>
              <a:t>— no AI-driven injection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David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Most Interesting &amp; Challenging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D3EE"/>
                </a:solidFill>
                <a:latin typeface="Arial"/>
              </a:rPr>
              <a:t>The dedup that makes everything else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The problem: phishers give every victim a “unique” link.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3A3C4"/>
                </a:solidFill>
                <a:latin typeface="Arial"/>
              </a:rPr>
              <a:t>.../verify?id=</a:t>
            </a:r>
            <a:r>
              <a:rPr sz="1300" b="1" i="0">
                <a:solidFill>
                  <a:srgbClr val="F87171"/>
                </a:solidFill>
                <a:latin typeface="Arial"/>
              </a:rPr>
              <a:t>david</a:t>
            </a:r>
            <a:r>
              <a:rPr sz="1300" b="0" i="0">
                <a:solidFill>
                  <a:srgbClr val="93A3C4"/>
                </a:solidFill>
                <a:latin typeface="Arial"/>
              </a:rPr>
              <a:t>&amp;ref=email123</a:t>
            </a:r>
            <a:r>
              <a:rPr sz="1300" b="0" i="0">
                <a:solidFill>
                  <a:srgbClr val="2B3A63"/>
                </a:solidFill>
                <a:latin typeface="Arial"/>
              </a:rPr>
              <a:t>      vs      </a:t>
            </a:r>
            <a:r>
              <a:rPr sz="1300" b="0" i="0">
                <a:solidFill>
                  <a:srgbClr val="93A3C4"/>
                </a:solidFill>
                <a:latin typeface="Arial"/>
              </a:rPr>
              <a:t>.../verify?id=</a:t>
            </a:r>
            <a:r>
              <a:rPr sz="1300" b="1" i="0">
                <a:solidFill>
                  <a:srgbClr val="F87171"/>
                </a:solidFill>
                <a:latin typeface="Arial"/>
              </a:rPr>
              <a:t>maria</a:t>
            </a:r>
            <a:r>
              <a:rPr sz="1300" b="0" i="0">
                <a:solidFill>
                  <a:srgbClr val="93A3C4"/>
                </a:solidFill>
                <a:latin typeface="Arial"/>
              </a:rPr>
              <a:t>&amp;ref=email456</a:t>
            </a:r>
            <a:r>
              <a:rPr sz="1300" b="1" i="0">
                <a:solidFill>
                  <a:srgbClr val="34D399"/>
                </a:solidFill>
                <a:latin typeface="Arial"/>
              </a:rPr>
              <a:t>   →   same attack.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440680" cy="2514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Arial"/>
              </a:rPr>
              <a:t>Why it's the crux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20 reports → 1 investigation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powers “seen before, reported N×”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a URL is never scanned twice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it's what defines a campaign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91840"/>
            <a:ext cx="5440680" cy="2514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BF24"/>
                </a:solidFill>
                <a:latin typeface="Arial"/>
              </a:rPr>
              <a:t>Why it's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862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strip tracking junk, keep meaning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denylist is heuristic — must tune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shorteners need the resolved URL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too aggressive = wrong merges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Michael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0584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Project Setup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Arial"/>
              </a:rPr>
              <a:t>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8458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6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8458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AF3"/>
                </a:solidFill>
                <a:latin typeface="Arial"/>
              </a:rP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3060" y="1828800"/>
            <a:ext cx="1792224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6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3060" y="1828800"/>
            <a:ext cx="1792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AF3"/>
                </a:solidFill>
                <a:latin typeface="Arial"/>
              </a:rPr>
              <a:t>Node / 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3884" y="1828800"/>
            <a:ext cx="137160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6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3884" y="182880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AF3"/>
                </a:solidFill>
                <a:latin typeface="Arial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4083" y="1828800"/>
            <a:ext cx="1581912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6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4083" y="1828800"/>
            <a:ext cx="15819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AF3"/>
                </a:solidFill>
                <a:latin typeface="Arial"/>
              </a:rPr>
              <a:t>Clerk (auth)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4596" y="1828800"/>
            <a:ext cx="18973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6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4596" y="1828800"/>
            <a:ext cx="18973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AF3"/>
                </a:solidFill>
                <a:latin typeface="Arial"/>
              </a:rPr>
              <a:t>Render (deploy)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1828800"/>
            <a:ext cx="137160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6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182880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AF3"/>
                </a:solidFill>
                <a:latin typeface="Arial"/>
              </a:rPr>
              <a:t>Claude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56032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97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4D399"/>
                </a:solidFill>
                <a:latin typeface="Arial"/>
              </a:rPr>
              <a:t>Set up &amp;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Repo + GitHub Project board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Issues &amp; milestones per sprint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Deploy on free tiers (early Sprint 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Seed script for a realistic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56032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697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B5CF6"/>
                </a:solidFill>
                <a:latin typeface="Arial"/>
              </a:rPr>
              <a:t>Roadmap (stretch)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Browser extension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Enterprise SSO / SAML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Email / SMS alerts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EAF3"/>
                </a:solidFill>
                <a:latin typeface="Arial"/>
              </a:rPr>
              <a:t>• More Ask-Orbo chart types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0060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Orbis turns a scary link into a clear answer — in seconds.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Arial"/>
              </a:rPr>
              <a:t>Thank you.  </a:t>
            </a:r>
            <a:r>
              <a:rPr sz="1400" b="1" i="0">
                <a:solidFill>
                  <a:srgbClr val="E6EAF3"/>
                </a:solidFill>
                <a:latin typeface="Arial"/>
              </a:rPr>
              <a:t>Questions?</a:t>
            </a:r>
            <a:r>
              <a:rPr sz="1250" b="0" i="0">
                <a:solidFill>
                  <a:srgbClr val="93A3C4"/>
                </a:solidFill>
                <a:latin typeface="Arial"/>
              </a:rPr>
              <a:t>      Michael · Ozias · David — team DOMinion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3A3C4"/>
                </a:solidFill>
                <a:latin typeface="Arial"/>
              </a:rPr>
              <a:t>Orbis  ·  team DOMinion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64190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D3EE"/>
                </a:solidFill>
                <a:latin typeface="Arial"/>
              </a:rPr>
              <a:t>▸ </a:t>
            </a:r>
            <a:r>
              <a:rPr sz="1000" b="0" i="0">
                <a:solidFill>
                  <a:srgbClr val="93A3C4"/>
                </a:solidFill>
                <a:latin typeface="Arial"/>
              </a:rPr>
              <a:t>All</a:t>
            </a:r>
            <a:r>
              <a:rPr sz="1000" b="0" i="0">
                <a:solidFill>
                  <a:srgbClr val="2B3A63"/>
                </a:solidFill>
                <a:latin typeface="Arial"/>
              </a:rPr>
              <a:t>  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